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65836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$</a:t>
            </a:r>
          </a:p>
        </p:txBody>
      </p:sp>
      <p:sp>
        <p:nvSpPr>
          <p:cNvPr id="5" name="Oval 4"/>
          <p:cNvSpPr/>
          <p:nvPr/>
        </p:nvSpPr>
        <p:spPr>
          <a:xfrm>
            <a:off x="10396728" y="1042415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6" name="Oval 5"/>
          <p:cNvSpPr/>
          <p:nvPr/>
        </p:nvSpPr>
        <p:spPr>
          <a:xfrm>
            <a:off x="11055096" y="65836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34440"/>
            <a:ext cx="81381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RETAIL SALES</a:t>
            </a:r>
          </a:p>
          <a:p>
            <a:pPr>
              <a:defRPr sz="4200" b="1">
                <a:solidFill>
                  <a:srgbClr val="EB672A"/>
                </a:solidFill>
                <a:latin typeface="Aptos Display"/>
              </a:defRPr>
            </a:pPr>
            <a: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Aptos"/>
              </a:defRPr>
            </a:pPr>
            <a:r>
              <a:t>Business Intelligence &amp; Data Analytics Capstone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3749039" cy="530352"/>
          </a:xfrm>
          <a:prstGeom prst="round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PRESENTED BY  KAVINPRASATH.R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447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Aptos"/>
              </a:defRPr>
            </a:pPr>
            <a:r>
              <a:t>Excel • SQL • Python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A concise view of the retail dataset and measurable business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94C1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58191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45336"/>
            <a:ext cx="16916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$8.58M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975104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49424"/>
            <a:ext cx="22768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Source transaction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173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02152" y="158191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1" y="1545336"/>
            <a:ext cx="16916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1,615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1" y="1975104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249424"/>
            <a:ext cx="22768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Distinct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4173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45352" y="158191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1545336"/>
            <a:ext cx="16916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7,078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1975104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249424"/>
            <a:ext cx="22768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Total item quantity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4173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88552" y="158191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1545336"/>
            <a:ext cx="16916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1,445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1975104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249424"/>
            <a:ext cx="22768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Unique customers in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880360"/>
            <a:ext cx="2011680" cy="310896"/>
          </a:xfrm>
          <a:prstGeom prst="round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C94C18"/>
                </a:solidFill>
                <a:latin typeface="Aptos"/>
              </a:defRPr>
            </a:pPr>
            <a:r>
              <a:t>KEY SIGNALS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246120"/>
            <a:ext cx="534924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8952" y="340156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3392424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Aptos"/>
              </a:defRPr>
            </a:pPr>
            <a:r>
              <a:t>What the analysis shows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867911"/>
            <a:ext cx="489204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2017 delivered the highest annual revenue at $3.85M.</a:t>
            </a:r>
          </a:p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Mountain Bikes generated $3.03M, the leading category.</a:t>
            </a:r>
          </a:p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Baldwin Bikes contributed $5.83M, about 67.9% of revenue.</a:t>
            </a:r>
          </a:p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The dashboard highlights 307 low-stock items for inventory attention.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880360"/>
            <a:ext cx="2011680" cy="310896"/>
          </a:xfrm>
          <a:prstGeom prst="round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C94C18"/>
                </a:solidFill>
                <a:latin typeface="Aptos"/>
              </a:defRPr>
            </a:pPr>
            <a:r>
              <a:t>DATASET SCALE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246120"/>
            <a:ext cx="242316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82512" y="341071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3374136"/>
            <a:ext cx="15087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321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3803904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3246120"/>
            <a:ext cx="242316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88552" y="341071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2912" y="3374136"/>
            <a:ext cx="15087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939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2912" y="3803904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Stock records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297679"/>
            <a:ext cx="242316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2512" y="4462271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4425695"/>
            <a:ext cx="15087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2" y="4855464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Brands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23960" y="4297679"/>
            <a:ext cx="242316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988552" y="4462271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82912" y="4425695"/>
            <a:ext cx="15087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82912" y="4855464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207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B7280"/>
                </a:solidFill>
                <a:latin typeface="Aptos"/>
              </a:defRPr>
            </a:pPr>
            <a:r>
              <a:t>RETAIL SALES ANALYTICS • KAVINPRASATH.R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Business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Transform raw retail records into decision-ready sales, customer and inventory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94C1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57276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563624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48463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Raw retail tables require cleaning, validation and structured relationships before analysis.</a:t>
            </a:r>
          </a:p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Decision-makers need visibility into revenue, products, stores, staff and stock levels.</a:t>
            </a:r>
          </a:p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Multiple tools are required to move from raw data to an interactive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82512" y="157276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563624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39112"/>
            <a:ext cx="48463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Clean and audit source data in Excel.</a:t>
            </a:r>
          </a:p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Model and query related tables using SQL.</a:t>
            </a:r>
          </a:p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Explore trends and patterns using Python.</a:t>
            </a:r>
          </a:p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Present KPIs and insights through Power BI.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2011680" cy="310896"/>
          </a:xfrm>
          <a:prstGeom prst="round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C94C18"/>
                </a:solidFill>
                <a:latin typeface="Aptos"/>
              </a:defRPr>
            </a:pPr>
            <a:r>
              <a:t>ANALYTICS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23317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40740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40740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736592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4251960"/>
            <a:ext cx="23317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66744" y="440740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440740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4736592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251960"/>
            <a:ext cx="23317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55664" y="440740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440740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4736592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4251960"/>
            <a:ext cx="23317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44584" y="440740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1" y="440740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1" y="4736592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B7280"/>
                </a:solidFill>
                <a:latin typeface="Aptos"/>
              </a:defRPr>
            </a:pPr>
            <a:r>
              <a:t>RETAIL SALES ANALYTICS • KAVINPRASATH.R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Relational structure connecting customers, orders, products, categories, brands, stores and staff.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94C1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B7280"/>
                </a:solidFill>
                <a:latin typeface="Aptos"/>
              </a:defRPr>
            </a:pPr>
            <a:r>
              <a:t>RETAIL SALES ANALYTICS • KAVINPRASATH.R</a:t>
            </a:r>
          </a:p>
        </p:txBody>
      </p:sp>
      <p:pic>
        <p:nvPicPr>
          <p:cNvPr id="13" name="Picture 12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1097280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Each tool contributes a distinct stage in the end-to-end analytics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94C1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62763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591056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4C18"/>
                </a:solidFill>
                <a:latin typeface="Aptos"/>
              </a:defRPr>
            </a:pPr>
            <a:r>
              <a:t>Clean &amp;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2240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Data cleaning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Duplicate checks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Sorting &amp; filtering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IF / COUNT / SUM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Lookup formulas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Pivot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417320"/>
            <a:ext cx="265176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5304" y="162763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591056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148840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4C18"/>
                </a:solidFill>
                <a:latin typeface="Aptos"/>
              </a:defRPr>
            </a:pPr>
            <a:r>
              <a:t>Structure &amp;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606040"/>
            <a:ext cx="2240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Primary keys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Foreign keys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JOIN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GROUP BY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ORDER BY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Aggregate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417320"/>
            <a:ext cx="265176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83096" y="162763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1591056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148840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4C18"/>
                </a:solidFill>
                <a:latin typeface="Aptos"/>
              </a:defRPr>
            </a:pPr>
            <a:r>
              <a:t>Explore &amp; 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606040"/>
            <a:ext cx="2240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Pandas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NumPy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EDA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Matplotlib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Seaborn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Business insights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1417320"/>
            <a:ext cx="265176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90888" y="162763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1591056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148840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4C18"/>
                </a:solidFill>
                <a:latin typeface="Aptos"/>
              </a:defRPr>
            </a:pPr>
            <a:r>
              <a:t>Visualize &amp; 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606040"/>
            <a:ext cx="2240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KPI cards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Interactive dashboard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Category analysis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Stock overview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Sales insights</a:t>
            </a:r>
          </a:p>
          <a:p>
            <a:pPr>
              <a:spcAft>
                <a:spcPts val="7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✓ Reporting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B7280"/>
                </a:solidFill>
                <a:latin typeface="Aptos"/>
              </a:defRPr>
            </a:pPr>
            <a:r>
              <a:t>RETAIL SALES ANALYTICS • KAVINPRASATH.R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Sales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Revenue trend and category mix derived from transaction-level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94C18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7" name="Picture 6" descr="annual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623560" cy="2971800"/>
          </a:xfrm>
          <a:prstGeom prst="rect">
            <a:avLst/>
          </a:prstGeom>
        </p:spPr>
      </p:pic>
      <p:pic>
        <p:nvPicPr>
          <p:cNvPr id="8" name="Picture 7" descr="categor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532120" cy="2971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4572000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1" y="473659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1" y="4700016"/>
            <a:ext cx="25146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$3.85M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1" y="5129784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Best year: 2017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572000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73659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4700016"/>
            <a:ext cx="25146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$3.03M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5129784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Mountain Bikes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5358384"/>
            <a:ext cx="30998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35.3% of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572000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1312" y="473659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4700016"/>
            <a:ext cx="25146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$1.85M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5129784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Road Bikes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5358384"/>
            <a:ext cx="30998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21.6% of revenue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B7280"/>
                </a:solidFill>
                <a:latin typeface="Aptos"/>
              </a:defRPr>
            </a:pPr>
            <a:r>
              <a:t>RETAIL SALES ANALYTICS • KAVINPRASATH.R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Product &amp; Brand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High-value products and brands explain where revenue concentration is coming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94C18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7" name="Picture 6" descr="brand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48640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130759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  <a:latin typeface="Aptos Display"/>
              </a:defRPr>
            </a:pPr>
            <a:r>
              <a:t>Top 5 Products by Revenue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737360"/>
          <a:ext cx="5166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1005840"/>
                <a:gridCol w="1005840"/>
              </a:tblGrid>
              <a:tr h="4724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EB6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EB6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EB672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Trek Slash 8 27.5</a:t>
                      </a:r>
                    </a:p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- 2016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$616K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Trek Conduit+</a:t>
                      </a:r>
                    </a:p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- 2016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$435K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Trek Fuel EX 8 29</a:t>
                      </a:r>
                    </a:p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- 2016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$415K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Surly Straggler 650b</a:t>
                      </a:r>
                    </a:p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- 2016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$254K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Trek Domane SLR 6 Disc</a:t>
                      </a:r>
                    </a:p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- 2017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$236K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892040"/>
            <a:ext cx="3200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5056631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020055"/>
            <a:ext cx="22860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$5.13M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449824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Trek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5541264"/>
            <a:ext cx="28712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Leading brand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4892040"/>
            <a:ext cx="3200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25112" y="5056631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5020055"/>
            <a:ext cx="22860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2,612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449824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Electra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5541264"/>
            <a:ext cx="28712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Strong unit volume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89204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99831" y="5056631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5020055"/>
            <a:ext cx="2834639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$616K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5449824"/>
            <a:ext cx="2834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Top product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5541264"/>
            <a:ext cx="34198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Trek Slash 8 27.5 - 2016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B7280"/>
                </a:solidFill>
                <a:latin typeface="Aptos"/>
              </a:defRPr>
            </a:pPr>
            <a:r>
              <a:t>RETAIL SALES ANALYTICS • KAVINPRASATH.R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Store &amp; Staff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Performance comparison identifies high-contribution locations and sales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94C18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7" name="Picture 6" descr="store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440680" cy="3154680"/>
          </a:xfrm>
          <a:prstGeom prst="rect">
            <a:avLst/>
          </a:prstGeom>
        </p:spPr>
      </p:pic>
      <p:pic>
        <p:nvPicPr>
          <p:cNvPr id="8" name="Picture 7" descr="staff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440680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47091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1" y="487375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1" y="4837176"/>
            <a:ext cx="2423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$5.83M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1" y="52669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Baldwin Bikes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449824"/>
            <a:ext cx="30083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67.9% of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7091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6552" y="487375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4837176"/>
            <a:ext cx="2423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$2.94M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52669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Marcelene Boyer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5449824"/>
            <a:ext cx="30083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Top staff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7091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28431" y="487375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4837176"/>
            <a:ext cx="2423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$2.89M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52669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Venita Daniel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5449824"/>
            <a:ext cx="30083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Second-highest staff 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B7280"/>
                </a:solidFill>
                <a:latin typeface="Aptos"/>
              </a:defRPr>
            </a:pPr>
            <a:r>
              <a:t>RETAIL SALES ANALYTICS • KAVINPRASATH.R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Inventory &amp; Customer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Operational signals from stock records and order-level customer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94C1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011680" cy="310896"/>
          </a:xfrm>
          <a:prstGeom prst="round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C94C18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190195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1" y="1865376"/>
            <a:ext cx="2468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307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1" y="229514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Dashboard low-stock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523744"/>
            <a:ext cx="3054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As displayed in Power BI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73736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16552" y="190195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1865376"/>
            <a:ext cx="2468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29514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Zero-stock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523744"/>
            <a:ext cx="3054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Source stock 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73736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28431" y="190195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1865376"/>
            <a:ext cx="2468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939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229514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Stock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2523744"/>
            <a:ext cx="3054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Store × product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46120"/>
            <a:ext cx="2011680" cy="310896"/>
          </a:xfrm>
          <a:prstGeom prst="round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C94C18"/>
                </a:solidFill>
                <a:latin typeface="Aptos"/>
              </a:defRPr>
            </a:pPr>
            <a:r>
              <a:t>CUSTOMER &amp; ORDER BEHAVIOR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5760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1" y="3822191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1" y="3785615"/>
            <a:ext cx="2468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$5,312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1" y="421538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4443984"/>
            <a:ext cx="3054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Revenue / distinct orders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365760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16552" y="3822191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3785615"/>
            <a:ext cx="2468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1,445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421538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Unique ordering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4443984"/>
            <a:ext cx="3054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Customer IDs in orders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365760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28431" y="3822191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3785615"/>
            <a:ext cx="2468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9.1%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421538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Repeat-customer share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4443984"/>
            <a:ext cx="30540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C94C18"/>
                </a:solidFill>
                <a:latin typeface="Aptos"/>
              </a:defRPr>
            </a:pPr>
            <a:r>
              <a:t>Customers with &gt;1 order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074920"/>
            <a:ext cx="1060704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4671" y="523036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9888" y="5221224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Aptos"/>
              </a:defRPr>
            </a:pPr>
            <a:r>
              <a:t>Action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696712"/>
            <a:ext cx="101498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• Prioritize low-stock replenishment while protecting availability of high-revenue products and leading categories.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7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B7280"/>
                </a:solidFill>
                <a:latin typeface="Aptos"/>
              </a:defRPr>
            </a:pPr>
            <a:r>
              <a:t>RETAIL SALES ANALYTICS • KAVINPRASATH.R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Interactive dashboard view used to communicate KPIs, stock position and sales mix.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94C18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816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11201400" cy="5138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298448"/>
            <a:ext cx="11201400" cy="5138928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B7280"/>
                </a:solidFill>
                <a:latin typeface="Aptos"/>
              </a:defRPr>
            </a:pPr>
            <a:r>
              <a:t>RETAIL SALES ANALYTICS • KAVINPRASATH.R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B7280"/>
                </a:solidFill>
                <a:latin typeface="Aptos"/>
              </a:defRPr>
            </a:pPr>
            <a:r>
              <a:t>Turn the analytical results into practical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94C1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325880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0759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Aptos"/>
              </a:defRPr>
            </a:pPr>
            <a:r>
              <a:t>Revenue concentration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307592"/>
            <a:ext cx="37490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11827"/>
                </a:solidFill>
                <a:latin typeface="Aptos"/>
              </a:defRPr>
            </a:pPr>
            <a:r>
              <a:t>Mountain Bikes lead category revenue; Trek is the strongest brand by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80160"/>
            <a:ext cx="3566160" cy="685800"/>
          </a:xfrm>
          <a:prstGeom prst="round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>
                <a:solidFill>
                  <a:srgbClr val="C94C18"/>
                </a:solidFill>
                <a:latin typeface="Aptos"/>
              </a:defRPr>
            </a:pPr>
            <a:r>
              <a:t>ACTION  •  Protect availability and prioritize high-value inventory.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49631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78024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Aptos"/>
              </a:defRPr>
            </a:pPr>
            <a:r>
              <a:t>Store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78024"/>
            <a:ext cx="37490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11827"/>
                </a:solidFill>
                <a:latin typeface="Aptos"/>
              </a:defRPr>
            </a:pPr>
            <a:r>
              <a:t>Baldwin Bikes contributes the majority of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450592"/>
            <a:ext cx="3566160" cy="685800"/>
          </a:xfrm>
          <a:prstGeom prst="round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>
                <a:solidFill>
                  <a:srgbClr val="C94C18"/>
                </a:solidFill>
                <a:latin typeface="Aptos"/>
              </a:defRPr>
            </a:pPr>
            <a:r>
              <a:t>ACTION  •  Study winning practices and replicate them across stores.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666744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48456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Aptos"/>
              </a:defRPr>
            </a:pPr>
            <a:r>
              <a:t>Sales 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648456"/>
            <a:ext cx="37490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11827"/>
                </a:solidFill>
                <a:latin typeface="Aptos"/>
              </a:defRPr>
            </a:pPr>
            <a:r>
              <a:t>Marcelene Boyer and Venita Daniel are the two largest staff contributors.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621024"/>
            <a:ext cx="3566160" cy="685800"/>
          </a:xfrm>
          <a:prstGeom prst="round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>
                <a:solidFill>
                  <a:srgbClr val="C94C18"/>
                </a:solidFill>
                <a:latin typeface="Aptos"/>
              </a:defRPr>
            </a:pPr>
            <a:r>
              <a:t>ACTION  •  Use top-performer practices for coaching and targets.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837176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81888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Aptos"/>
              </a:defRPr>
            </a:pPr>
            <a:r>
              <a:t>Inventory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818888"/>
            <a:ext cx="37490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11827"/>
                </a:solidFill>
                <a:latin typeface="Aptos"/>
              </a:defRPr>
            </a:pPr>
            <a:r>
              <a:t>Power BI highlights 307 low-stock items.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791456"/>
            <a:ext cx="3566160" cy="685800"/>
          </a:xfrm>
          <a:prstGeom prst="roundRect">
            <a:avLst/>
          </a:prstGeom>
          <a:solidFill>
            <a:srgbClr val="F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>
                <a:solidFill>
                  <a:srgbClr val="C94C18"/>
                </a:solidFill>
                <a:latin typeface="Aptos"/>
              </a:defRPr>
            </a:pPr>
            <a:r>
              <a:t>ACTION  •  Create replenishment thresholds for fast-moving and high-value SKUs.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B7280"/>
                </a:solidFill>
                <a:latin typeface="Aptos"/>
              </a:defRPr>
            </a:pPr>
            <a:r>
              <a:t>RETAIL SALES ANALYTICS • KAVINPRASATH.R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492240" cy="3337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55648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737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End-to-end analytics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58978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019">
                <a:solidFill>
                  <a:srgbClr val="E2E8F0"/>
                </a:solidFill>
                <a:latin typeface="Aptos"/>
              </a:defRPr>
            </a:pPr>
            <a:r>
              <a:t>• Excel establishes a clean and auditable dataset.</a:t>
            </a:r>
          </a:p>
          <a:p>
            <a:pPr>
              <a:spcAft>
                <a:spcPts val="700"/>
              </a:spcAft>
              <a:defRPr sz="1019">
                <a:solidFill>
                  <a:srgbClr val="E2E8F0"/>
                </a:solidFill>
                <a:latin typeface="Aptos"/>
              </a:defRPr>
            </a:pPr>
            <a:r>
              <a:t>• SQL creates a connected relational structure for reliable querying.</a:t>
            </a:r>
          </a:p>
          <a:p>
            <a:pPr>
              <a:spcAft>
                <a:spcPts val="700"/>
              </a:spcAft>
              <a:defRPr sz="1019">
                <a:solidFill>
                  <a:srgbClr val="E2E8F0"/>
                </a:solidFill>
                <a:latin typeface="Aptos"/>
              </a:defRPr>
            </a:pPr>
            <a:r>
              <a:t>• Python reveals sales, product, brand, customer and operational patterns.</a:t>
            </a:r>
          </a:p>
          <a:p>
            <a:pPr>
              <a:spcAft>
                <a:spcPts val="700"/>
              </a:spcAft>
              <a:defRPr sz="1019">
                <a:solidFill>
                  <a:srgbClr val="E2E8F0"/>
                </a:solidFill>
                <a:latin typeface="Aptos"/>
              </a:defRPr>
            </a:pPr>
            <a:r>
              <a:t>• Power BI turns the analysis into an interactive decision-support dashboard.</a:t>
            </a:r>
          </a:p>
          <a:p>
            <a:pPr>
              <a:spcAft>
                <a:spcPts val="700"/>
              </a:spcAft>
              <a:defRPr sz="1019">
                <a:solidFill>
                  <a:srgbClr val="E2E8F0"/>
                </a:solidFill>
                <a:latin typeface="Aptos"/>
              </a:defRPr>
            </a:pPr>
            <a:r>
              <a:t>• Together, the pipeline converts raw retail data into actionable business insight.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99831" y="185623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819656"/>
            <a:ext cx="2560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$8.58M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24942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Revenue analyzed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97180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99831" y="313639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099816"/>
            <a:ext cx="2560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1,615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52958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Orders analyzed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25196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99831" y="4416552"/>
            <a:ext cx="475488" cy="475488"/>
          </a:xfrm>
          <a:prstGeom prst="ellipse">
            <a:avLst/>
          </a:prstGeom>
          <a:solidFill>
            <a:srgbClr val="EB6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4379976"/>
            <a:ext cx="2560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2937"/>
                </a:solidFill>
                <a:latin typeface="Aptos Display"/>
              </a:defRPr>
            </a:pPr>
            <a:r>
              <a:t>321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80974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Products covered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672A"/>
                </a:solidFill>
                <a:latin typeface="Aptos Display"/>
              </a:defRPr>
            </a:pPr>
            <a:r>
              <a:t>Thank You</a:t>
            </a:r>
          </a:p>
          <a:p>
            <a:pPr>
              <a:defRPr sz="1100">
                <a:solidFill>
                  <a:srgbClr val="CBD5E1"/>
                </a:solidFill>
                <a:latin typeface="Aptos"/>
              </a:defRPr>
            </a:pPr>
            <a:r>
              <a:t>Presented by KAVINPRASATH.R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